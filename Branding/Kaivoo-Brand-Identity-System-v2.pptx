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B4E"/>
    <a:srgbClr val="1E4C7A"/>
    <a:srgbClr val="1E3364"/>
    <a:srgbClr val="2A6E8A"/>
    <a:srgbClr val="3B8C8C"/>
    <a:srgbClr val="7FC8C8"/>
    <a:srgbClr val="D4E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33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16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18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51560"/>
            <a:ext cx="1697054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Brand Identity System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5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Developed by Pentagram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February 2026  |  Version 2.0 (Ocean Gradient Evolution)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EC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r>
              <a:rPr lang="en-US" sz="1500" i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is a technology. Depth, not noise.</a:t>
            </a:r>
            <a:r>
              <a:rPr lang="en-US" sz="2200" dirty="0">
                <a:solidFill>
                  <a:srgbClr val="7EC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A1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48188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Confidential  |  Kaivoo Design Systems Team  |  February 2026</a:t>
            </a:r>
            <a:endParaRPr lang="en-US" sz="1000" dirty="0">
              <a:solidFill>
                <a:schemeClr val="tx2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31374" y="4885282"/>
            <a:ext cx="469953" cy="1645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409112F-8CAD-537A-844B-D3ACC1CFACE2}"/>
              </a:ext>
            </a:extLst>
          </p:cNvPr>
          <p:cNvSpPr/>
          <p:nvPr/>
        </p:nvSpPr>
        <p:spPr>
          <a:xfrm rot="5400000">
            <a:off x="-612650" y="2350009"/>
            <a:ext cx="2642618" cy="45719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F3AD57-9B03-A81C-EE43-34127EECEE95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679423" y="51902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What We Will Cover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9423" y="1250542"/>
            <a:ext cx="457200" cy="457200"/>
          </a:xfrm>
          <a:prstGeom prst="ellipse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9423" y="12505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65223" y="123225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2E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Brand Strategy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65223" y="150657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Story, personality, voice &amp; messaging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9423" y="1908910"/>
            <a:ext cx="457200" cy="457200"/>
          </a:xfrm>
          <a:prstGeom prst="ellipse">
            <a:avLst/>
          </a:prstGeom>
          <a:solidFill>
            <a:srgbClr val="2B6E8A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9423" y="19089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65223" y="18906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2E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Visual Identity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65223" y="216494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Logo, color, ocean gradient, typography, imagery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9423" y="2567278"/>
            <a:ext cx="457200" cy="457200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9423" y="25672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65223" y="254899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2E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Design System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65223" y="282331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Principles, Depth Bar, cards, glass, motion &amp; Abyss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9423" y="3225646"/>
            <a:ext cx="457200" cy="457200"/>
          </a:xfrm>
          <a:prstGeom prst="ellipse">
            <a:avLst/>
          </a:prstGeom>
          <a:solidFill>
            <a:srgbClr val="1E3364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9423" y="3225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65223" y="320735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2E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Brand Applications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65223" y="348167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Stationery, social, presentations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9423" y="3884014"/>
            <a:ext cx="457200" cy="457200"/>
          </a:xfrm>
          <a:prstGeom prst="ellipse">
            <a:avLst/>
          </a:prstGeom>
          <a:solidFill>
            <a:srgbClr val="2A1B4E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9423" y="38840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65223" y="386572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2E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Brand Guidelines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365223" y="414004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32-page brand book, asset library &amp; governance</a:t>
            </a:r>
            <a:endParaRPr lang="en-US" sz="1200" dirty="0">
              <a:latin typeface="Aptos" panose="020B0004020202020204" pitchFamily="34" charset="0"/>
            </a:endParaRPr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9B60FE6-7E60-A3A4-B1DF-B0CC386AD3FD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7EC8C8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0EDE8"/>
                </a:solidFill>
                <a:latin typeface="Aptos" panose="020B0004020202020204" pitchFamily="34" charset="0"/>
                <a:ea typeface="Helvetica Neue" pitchFamily="34" charset="-122"/>
                <a:cs typeface="Helvetica Neue" pitchFamily="34" charset="-120"/>
              </a:rPr>
              <a:t>Brand Strategy</a:t>
            </a:r>
            <a:endParaRPr lang="en-US" sz="4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D0C8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Story, personality, voice &amp; tone, messaging hierarchy</a:t>
            </a:r>
            <a:endParaRPr lang="en-US" sz="1500" i="1" dirty="0">
              <a:latin typeface="Aptos" panose="020B0004020202020204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7748819" y="4476867"/>
            <a:ext cx="1029421" cy="3605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8F89FF3-61CF-F75B-8E8B-3672D9CE811C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STORY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Narrative Arc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54864" cy="2743200"/>
          </a:xfrm>
          <a:prstGeom prst="rect">
            <a:avLst/>
          </a:prstGeom>
          <a:solidFill>
            <a:srgbClr val="C7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75C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Modern Overwhelm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 stress, burnout, and nervous system dysregulation have become the background hum of modern life. Existing tools are either clinical or superficial.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6916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29000" y="1691640"/>
            <a:ext cx="54864" cy="274320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Science Made Human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25146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Kaivoo translates neuroscience breakthroughs into beautifully designed technology people actually want to use. Not as a luxury. As essential infrastructure.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691640"/>
            <a:ext cx="54864" cy="2743200"/>
          </a:xfrm>
          <a:prstGeom prst="rect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Integrated Life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25146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your inner state becomes as intuitive as checking the weather. Calming your nervous system takes 90 seconds, not 90 minutes.</a:t>
            </a:r>
            <a:endParaRPr lang="en-US" sz="12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27DBD8C-54A6-049B-CAC0-C3E06B3AFBBB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PERSONALITY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Sage × The Creator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737360"/>
            <a:ext cx="54864" cy="2560320"/>
          </a:xfrm>
          <a:prstGeom prst="rect">
            <a:avLst/>
          </a:prstGeom>
          <a:solidFill>
            <a:srgbClr val="2B6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30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Archetype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Seeks truth and understanding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evidence, clarity, and wisdom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Shares knowledge as empowerment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condescending — always illuminating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73736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1737360"/>
            <a:ext cx="54864" cy="256032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CREATOR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130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Archetype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423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 by vision and self-expression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and function are inseparable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Transforms the abstract into the tangible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Finds beauty in precision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73A6B6D-108F-C15F-95E2-2C7954C8CDE8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PERSONALITY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Kaivoo Were a Person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764792"/>
            <a:ext cx="109728" cy="109728"/>
          </a:xfrm>
          <a:prstGeom prst="ellipse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Calm-confident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 with quiet authority, never raises their voice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148840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2359152"/>
            <a:ext cx="109728" cy="109728"/>
          </a:xfrm>
          <a:prstGeom prst="ellipse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2258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Intellectually generous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258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Shares complex ideas accessibly without dumbing them 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743200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2953512"/>
            <a:ext cx="109728" cy="109728"/>
          </a:xfrm>
          <a:prstGeom prst="ellipse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Aesthetically rigorous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something looks is how it feels — design is not decoration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3547872"/>
            <a:ext cx="109728" cy="109728"/>
          </a:xfrm>
          <a:prstGeom prst="ellipse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 but not soft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Empathetic and direct; holds space without coddling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931920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4142232"/>
            <a:ext cx="109728" cy="109728"/>
          </a:xfrm>
          <a:prstGeom prst="ellipse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84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Forward-looking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research, but builds toward what’s next</a:t>
            </a:r>
            <a:endParaRPr lang="en-US" sz="1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118BB05-286B-4C66-9D29-A24331944DDE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&amp; TONE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Dimensions of Brand Voice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Serious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173736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88920" y="173736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73736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11880" y="173736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0" y="1737360"/>
            <a:ext cx="201168" cy="20116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251460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88920" y="251460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2514600"/>
            <a:ext cx="201168" cy="20116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11880" y="2514600"/>
            <a:ext cx="201168" cy="20116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23360" y="2514600"/>
            <a:ext cx="201168" cy="20116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Casual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Respectful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329184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88920" y="329184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329184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11880" y="329184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23360" y="329184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2628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Irreverent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Enthusiastic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77440" y="406908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88920" y="406908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4069080"/>
            <a:ext cx="201168" cy="201168"/>
          </a:xfrm>
          <a:prstGeom prst="ellipse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11880" y="4069080"/>
            <a:ext cx="201168" cy="20116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023360" y="4069080"/>
            <a:ext cx="201168" cy="20116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2628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Matter-of-fact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35040" y="1691640"/>
            <a:ext cx="2743200" cy="2834640"/>
          </a:xfrm>
          <a:prstGeom prst="rect">
            <a:avLst/>
          </a:prstGeom>
          <a:solidFill>
            <a:srgbClr val="1210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093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PRINCIPLES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Clarity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309360" y="2441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Direct, specific, jargon-free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Warmth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09360" y="2990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Empathetic without being syrupy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09360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09360" y="3538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Evidence-based, cite sources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3886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Empowerment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09360" y="4087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capacity, not dependence</a:t>
            </a:r>
            <a:endParaRPr lang="en-US" sz="1000" dirty="0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57CB292E-44DD-E003-53B9-1527CD37E364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r>
              <a:rPr lang="en-US" sz="38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Calm is a technology.</a:t>
            </a:r>
            <a:r>
              <a:rPr lang="en-US" sz="60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”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Positions calm not as a personality trait — but as something engineerable, accessible, and designable.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Kaivoo designs science-backed wellness technology that calms your nervous system, restores balance, and fits into the life you actually live.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 ADDITION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Depth, not noise.</a:t>
            </a:r>
            <a:r>
              <a:rPr lang="en-US" sz="12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The ocean metaphor is not decoration. It is a system.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BF3EE8-BA61-E3FB-7E3A-D5BE7FFF6C58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Key Messages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  <a:scene3d>
            <a:camera prst="orthographicFront"/>
            <a:lightRig rig="threePt" dir="t"/>
          </a:scene3d>
          <a:sp3d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54864" cy="132588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Science-Backed, Not Science-Fiction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peer-reviewed neuroscience. We follow the evidence, not trends.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24612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54864" cy="1325880"/>
          </a:xfrm>
          <a:prstGeom prst="rect">
            <a:avLst/>
          </a:prstGeom>
          <a:solidFill>
            <a:srgbClr val="2B6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That Heals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product looks and feels is inseparable from its clinical function. Beauty is the mechanism.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69164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691640"/>
            <a:ext cx="54864" cy="1325880"/>
          </a:xfrm>
          <a:prstGeom prst="rect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Proactive, Not Reactive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Kaivoo tools build resilience before you need it. Daily capacity building, not crisis management.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3246120"/>
            <a:ext cx="54864" cy="1325880"/>
          </a:xfrm>
          <a:prstGeom prst="rect">
            <a:avLst/>
          </a:prstGeom>
          <a:solidFill>
            <a:srgbClr val="1E33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3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32120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Empowerment Over Dependence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capacity. Our goal is to make you need us less over time, not more.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DC62C6B-AB67-A743-D1B5-0C24A20576D5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Identity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system, color, ocean gradient, typography, imagery &amp; glass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151571" y="3657600"/>
            <a:ext cx="895149" cy="109728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2C8E3AB-6A49-D49B-B954-3B19695F17B9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Strategic Directions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2423160" cy="1097280"/>
          </a:xfrm>
          <a:prstGeom prst="rect">
            <a:avLst/>
          </a:prstGeom>
          <a:solidFill>
            <a:srgbClr val="1210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644" y="2093976"/>
            <a:ext cx="835473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Wordmark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3246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“Kaivoo” flowing script for editorial and large-format use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38404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 FOR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68680" y="4023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headers, brand storytelling, large-format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429000" y="16916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429000" y="1691640"/>
            <a:ext cx="2423160" cy="1097280"/>
          </a:xfrm>
          <a:prstGeom prst="rect">
            <a:avLst/>
          </a:prstGeom>
          <a:solidFill>
            <a:srgbClr val="1210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495" y="1920240"/>
            <a:ext cx="522171" cy="6400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61188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Symbol / Icon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3611880" y="3246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standalone K icon — a continuous, flowing form suggesting renewal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3611880" y="38404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 FOR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611880" y="4023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icons, hardware, avatars, favicon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2176513" y="1783080"/>
            <a:ext cx="777240" cy="22860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2176513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</a:t>
            </a:r>
            <a:endParaRPr lang="en-US" sz="70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DBEBBC4C-B556-B9A2-EF4A-5CCEAE850D0C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Usage Rules &amp; Clear Space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 USAGE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1691640" cy="731520"/>
          </a:xfrm>
          <a:prstGeom prst="rect">
            <a:avLst/>
          </a:prstGeom>
          <a:solidFill>
            <a:srgbClr val="FAF8F5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35" y="2286000"/>
            <a:ext cx="522171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27614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light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560320" y="2011680"/>
            <a:ext cx="1691640" cy="731520"/>
          </a:xfrm>
          <a:prstGeom prst="rect">
            <a:avLst/>
          </a:prstGeom>
          <a:solidFill>
            <a:srgbClr val="1210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055" y="2286000"/>
            <a:ext cx="522171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27614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Abyss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68580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mark in Deep Navy on white/cream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Reversed white mark on Abyss dark backgrounds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K icon for app/avatar use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Liquid Glass surfaces with 4.5:1 contrast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Depth Bar in header configurations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006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75C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00600" y="20116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Stretch, compress, or distort the logo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ocean gradient directly to the logo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on busy, low-contrast backgrounds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Rearrange lockup components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drop shadows, glows, or effects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0" y="1691640"/>
            <a:ext cx="9144" cy="30175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85800" y="4434840"/>
            <a:ext cx="7772400" cy="4114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1440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Space: Minimum 1X on all sides (X = height of lowercase “a” in wordmark). Recommended 1.5X.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649AF04-480F-1D64-DF97-8D230F4B9322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Palette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2423160" cy="11887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186" y="2185416"/>
            <a:ext cx="57438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2971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Navy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3227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#1A1F2E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brand, text, logo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29000" y="1691640"/>
            <a:ext cx="2423160" cy="1188720"/>
          </a:xfrm>
          <a:prstGeom prst="rect">
            <a:avLst/>
          </a:prstGeom>
          <a:solidFill>
            <a:srgbClr val="FA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29000" y="2971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 Sand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429000" y="3227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#FAF8F5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29000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Canvas, breathing space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1691640"/>
            <a:ext cx="2423160" cy="1188720"/>
          </a:xfrm>
          <a:prstGeom prst="rect">
            <a:avLst/>
          </a:prstGeom>
          <a:solidFill>
            <a:srgbClr val="8FA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72200" y="2971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Sage Mist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72200" y="3227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#8FA89A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72200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Accent, decorative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" y="3840480"/>
            <a:ext cx="7772400" cy="4114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5800" y="3840480"/>
            <a:ext cx="54864" cy="411480"/>
          </a:xfrm>
          <a:prstGeom prst="rect">
            <a:avLst/>
          </a:prstGeom>
          <a:solidFill>
            <a:srgbClr val="6B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4400" y="3858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Deep #6B8F7A  </a:t>
            </a: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Text-accessible variant of Sage Mist. Passes WCAG AA (4.5:1) on Warm Sand.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85800" y="4407408"/>
            <a:ext cx="3886200" cy="20116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0" y="4407408"/>
            <a:ext cx="1554480" cy="201168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126480" y="4407408"/>
            <a:ext cx="777240" cy="201168"/>
          </a:xfrm>
          <a:prstGeom prst="rect">
            <a:avLst/>
          </a:prstGeom>
          <a:solidFill>
            <a:srgbClr val="C4A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03720" y="4407408"/>
            <a:ext cx="777240" cy="201168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680960" y="4407408"/>
            <a:ext cx="777240" cy="201168"/>
          </a:xfrm>
          <a:prstGeom prst="rect">
            <a:avLst/>
          </a:prstGeom>
          <a:solidFill>
            <a:srgbClr val="4A5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46360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 Ratio:  50% Foundation     20% Ocean Gradient     10% Sand     10% CTA     10% Others</a:t>
            </a:r>
            <a:endParaRPr lang="en-US" sz="8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0393F7E-9070-7948-9F6B-2C0A74E1E783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Secondary &amp; Accent Palette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1828800" cy="822960"/>
          </a:xfrm>
          <a:prstGeom prst="rect">
            <a:avLst/>
          </a:prstGeom>
          <a:solidFill>
            <a:srgbClr val="C4A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Dusk Rose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#C4A08A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20240"/>
            <a:ext cx="1828800" cy="822960"/>
          </a:xfrm>
          <a:prstGeom prst="rect">
            <a:avLst/>
          </a:prstGeom>
          <a:solidFill>
            <a:srgbClr val="4A5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Storm Blue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#4A5E78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920240"/>
            <a:ext cx="1828800" cy="822960"/>
          </a:xfrm>
          <a:prstGeom prst="rect">
            <a:avLst/>
          </a:prstGeom>
          <a:solidFill>
            <a:srgbClr val="9B8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Twilight Lavender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#9B8EB0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920240"/>
            <a:ext cx="1828800" cy="822960"/>
          </a:xfrm>
          <a:prstGeom prst="rect">
            <a:avLst/>
          </a:prstGeom>
          <a:solidFill>
            <a:srgbClr val="D4A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Sunlit Amber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#D4A952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383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3657600"/>
            <a:ext cx="2423160" cy="50292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206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Resonance Teal  —  CTA, success, nervous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3657600"/>
            <a:ext cx="2423160" cy="502920"/>
          </a:xfrm>
          <a:prstGeom prst="rect">
            <a:avLst/>
          </a:prstGeom>
          <a:solidFill>
            <a:srgbClr val="C7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4206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Ember  —  Brand alerts, urgent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3657600"/>
            <a:ext cx="2423160" cy="502920"/>
          </a:xfrm>
          <a:prstGeom prst="rect">
            <a:avLst/>
          </a:prstGeom>
          <a:solidFill>
            <a:srgbClr val="5B7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4206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Clarity Blue  —  Links, informational</a:t>
            </a:r>
            <a:endParaRPr lang="en-US" sz="9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 — V2.0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Depth Spectrum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ocean tokens map depth to meaning. Shallow is recent. Deep is historical.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960120" cy="237744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#D4EDE4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19072" y="1920240"/>
            <a:ext cx="960120" cy="237744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19072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Shallow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19072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#7EC8C8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19072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Shallows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52344" y="1920240"/>
            <a:ext cx="960120" cy="237744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52344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52344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#3B8C8C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2344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Water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85616" y="1920240"/>
            <a:ext cx="960120" cy="237744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85616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85616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#2B6E8A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85616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Midwater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18888" y="1920240"/>
            <a:ext cx="960120" cy="237744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#1E4D7A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18888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52160" y="1920240"/>
            <a:ext cx="960120" cy="237744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52160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Twilight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#1E3364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52160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Twilight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85432" y="1920240"/>
            <a:ext cx="960120" cy="237744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85432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Abyss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85432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#2A1B4E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85432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Abyss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918704" y="1920240"/>
            <a:ext cx="960120" cy="2377440"/>
          </a:xfrm>
          <a:prstGeom prst="rect">
            <a:avLst/>
          </a:prstGeom>
          <a:solidFill>
            <a:srgbClr val="1A1232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18704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Trench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18704" y="2286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#1A1232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18704" y="3931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Trench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C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ocean-surface (#3B8C8C) = Resonance Teal — the brand’s CTA color IS the midpoint of the ocean.</a:t>
            </a:r>
            <a:endParaRPr lang="en-US" sz="10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SIGNATURE ELEMENT — V2.0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Depth Bar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4px gradient stripe on every page. Our visual fingerprint.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920240"/>
            <a:ext cx="1307592" cy="14630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07592" y="1920240"/>
            <a:ext cx="1307592" cy="14630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15184" y="1920240"/>
            <a:ext cx="1307592" cy="14630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22776" y="1920240"/>
            <a:ext cx="1298448" cy="14630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21224" y="1920240"/>
            <a:ext cx="1307592" cy="14630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28816" y="1920240"/>
            <a:ext cx="1307592" cy="14630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36408" y="1920240"/>
            <a:ext cx="1307592" cy="14630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Foam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81912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Shallow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43784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05656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6752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2940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Twilight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91272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Abyss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2651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4px (digital) · 2mm (print)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2971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container, edge to edge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291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 left-to-right (90°)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611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Below header navigation, above content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931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Dark Mode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931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80% opacity + glow shadow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251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per viewport. Never vertical. Never thicker than 6px.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 — HEALTH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Semantic Health Color System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palette governs brand expression. Semantic palette governs health data. These are separate systems that coexist.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256032" cy="256032"/>
          </a:xfrm>
          <a:prstGeom prst="rect">
            <a:avLst/>
          </a:prstGeom>
          <a:solidFill>
            <a:srgbClr val="2D86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2011680"/>
            <a:ext cx="256032" cy="256032"/>
          </a:xfrm>
          <a:prstGeom prst="rect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#2D8659  /  #34C759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 healthy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395728"/>
            <a:ext cx="256032" cy="256032"/>
          </a:xfrm>
          <a:prstGeom prst="rect">
            <a:avLst/>
          </a:prstGeom>
          <a:solidFill>
            <a:srgbClr val="C49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2395728"/>
            <a:ext cx="256032" cy="256032"/>
          </a:xfrm>
          <a:prstGeom prst="rect">
            <a:avLst/>
          </a:prstGeom>
          <a:solidFill>
            <a:srgbClr val="FFD6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17320" y="2350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Elevated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#C49A2A  /  #FFD60A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Approaching threshold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2779776"/>
            <a:ext cx="256032" cy="256032"/>
          </a:xfrm>
          <a:prstGeom prst="rect">
            <a:avLst/>
          </a:prstGeom>
          <a:solidFill>
            <a:srgbClr val="C44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" y="2779776"/>
            <a:ext cx="256032" cy="256032"/>
          </a:xfrm>
          <a:prstGeom prst="rect">
            <a:avLst/>
          </a:prstGeom>
          <a:solidFill>
            <a:srgbClr val="FF6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17320" y="2734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#C44B3A  /  #FF6961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734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 healthy range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163824"/>
            <a:ext cx="256032" cy="256032"/>
          </a:xfrm>
          <a:prstGeom prst="rect">
            <a:avLst/>
          </a:prstGeom>
          <a:solidFill>
            <a:srgbClr val="C44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5840" y="3163824"/>
            <a:ext cx="256032" cy="256032"/>
          </a:xfrm>
          <a:prstGeom prst="rect">
            <a:avLst/>
          </a:prstGeom>
          <a:solidFill>
            <a:srgbClr val="FF37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17320" y="31181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118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#C44B5E  /  #FF375F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3118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rate, HRV, cardio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3547872"/>
            <a:ext cx="256032" cy="256032"/>
          </a:xfrm>
          <a:prstGeom prst="rect">
            <a:avLst/>
          </a:prstGeom>
          <a:solidFill>
            <a:srgbClr val="5A5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05840" y="3547872"/>
            <a:ext cx="256032" cy="256032"/>
          </a:xfrm>
          <a:prstGeom prst="rect">
            <a:avLst/>
          </a:prstGeom>
          <a:solidFill>
            <a:srgbClr val="7D7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17320" y="3502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Sleep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3502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#5A54B0  /  #7D7AFF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stages, rest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" y="3931920"/>
            <a:ext cx="256032" cy="256032"/>
          </a:xfrm>
          <a:prstGeom prst="rect">
            <a:avLst/>
          </a:prstGeom>
          <a:solidFill>
            <a:srgbClr val="8A52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05840" y="3931920"/>
            <a:ext cx="256032" cy="256032"/>
          </a:xfrm>
          <a:prstGeom prst="rect">
            <a:avLst/>
          </a:prstGeom>
          <a:solidFill>
            <a:srgbClr val="BF5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1732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Mindfulness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2608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#8A52B0  /  #BF5AF2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Meditation, calm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" y="4315968"/>
            <a:ext cx="256032" cy="256032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05840" y="4315968"/>
            <a:ext cx="256032" cy="256032"/>
          </a:xfrm>
          <a:prstGeom prst="rect">
            <a:avLst/>
          </a:prstGeom>
          <a:solidFill>
            <a:srgbClr val="4BB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417320" y="4270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Nervous System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0" y="4270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#3B8C8C  /  #4BBFBF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Vagal tone — OWNABLE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" y="4251960"/>
            <a:ext cx="7955280" cy="365760"/>
          </a:xfrm>
          <a:prstGeom prst="rect">
            <a:avLst/>
          </a:prstGeom>
          <a:solidFill>
            <a:srgbClr val="3B8C8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5800" y="4572000"/>
            <a:ext cx="7772400" cy="3200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Resonance Teal bridges brand and semantic systems — no competitor owns a semantic color for vagal tone data.</a:t>
            </a:r>
            <a:endParaRPr lang="en-US" sz="10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 — V2.0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"The Abyss" — Dark Mode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inverted light mode. The ocean at night — purple undertones that feel cinematic.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 HIERARCHY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1828800" cy="594360"/>
          </a:xfrm>
          <a:prstGeom prst="rect">
            <a:avLst/>
          </a:prstGeom>
          <a:solidFill>
            <a:srgbClr val="12101E"/>
          </a:solidFill>
          <a:ln w="6350">
            <a:solidFill>
              <a:srgbClr val="2D2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0 — Canvas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#12101E  Purple-navy base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2240280"/>
            <a:ext cx="1828800" cy="594360"/>
          </a:xfrm>
          <a:prstGeom prst="rect">
            <a:avLst/>
          </a:prstGeom>
          <a:solidFill>
            <a:srgbClr val="1A1832"/>
          </a:solidFill>
          <a:ln w="6350">
            <a:solidFill>
              <a:srgbClr val="2D2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1 — Card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3063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#1A1832  +4% brightness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1828800" cy="594360"/>
          </a:xfrm>
          <a:prstGeom prst="rect">
            <a:avLst/>
          </a:prstGeom>
          <a:solidFill>
            <a:srgbClr val="232040"/>
          </a:solidFill>
          <a:ln w="6350">
            <a:solidFill>
              <a:srgbClr val="2D2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2 — Elevated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063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#232040  +8% brightness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2240280"/>
            <a:ext cx="1828800" cy="594360"/>
          </a:xfrm>
          <a:prstGeom prst="rect">
            <a:avLst/>
          </a:prstGeom>
          <a:solidFill>
            <a:srgbClr val="2D294E"/>
          </a:solidFill>
          <a:ln w="6350">
            <a:solidFill>
              <a:srgbClr val="2D2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3 — Overlay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3063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#2D294E  +12% brightness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3429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COMPETITIVE DIFFERENTIATION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703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Cold black, neutral grey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3977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Aggressive dark, red accents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251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 Health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4251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grey dark mode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Kaivoo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ocean purple — contemplative, cinematic</a:t>
            </a:r>
            <a:endParaRPr lang="en-US" sz="10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Dual Type System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54864" cy="3017520"/>
          </a:xfrm>
          <a:prstGeom prst="rect">
            <a:avLst/>
          </a:prstGeom>
          <a:solidFill>
            <a:srgbClr val="2B6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Neue Haas Grotesk + Spectral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Aa Bb Cc Dd Ee Ff Gg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 300  </a:t>
            </a:r>
            <a:r>
              <a:rPr lang="en-US" sz="1000" dirty="0">
                <a:solidFill>
                  <a:srgbClr val="2D3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Regular 400  </a:t>
            </a:r>
            <a:r>
              <a:rPr lang="en-US" sz="1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Medium 500  </a:t>
            </a: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Bold 700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Marketing, editorial, packaging, presentations. Swiss precision + screen-optimized serif.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v2.0: Display weight 300 → 500. Spacing tightened for confidence.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0600" y="169164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691640"/>
            <a:ext cx="54864" cy="301752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18288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 Variable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Aa Bb Cc 0123456789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8346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Weights 100–900  </a:t>
            </a:r>
            <a:r>
              <a:rPr lang="en-US" sz="1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Tabular numerals  </a:t>
            </a:r>
            <a:r>
              <a:rPr lang="en-US" sz="10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200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UI, dashboards, health data. Variable font enables accessibility modes and tabular numerals for data alignment.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v2.0: 17px minimum body for neuro-inclusive readability</a:t>
            </a:r>
            <a:endParaRPr lang="en-US" sz="8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Hierarchy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DISPLAY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Hero Headlines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56px  |  Medium 500  |  -0.025em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Titles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40px  |  Medium 500  |  -0.015em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Headers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28px  |  Medium 500  |  -0.01em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154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Subsections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22px  |  Medium 500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OVERLINE 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13px  |  Bold 700  |  UPPERCASE  |  +0.04em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Long-form reading in Spectral serif.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17px min  |  Regular 400  |  1.6 line-height</a:t>
            </a:r>
            <a:endParaRPr lang="en-US" sz="8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Photography &amp; Illustration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886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54864" cy="2743200"/>
          </a:xfrm>
          <a:prstGeom prst="rect">
            <a:avLst/>
          </a:prstGeom>
          <a:solidFill>
            <a:srgbClr val="C4A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A0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PHOTOGRAPHY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Contemplative, grounded, warm, alive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587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587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Natural, soft directional (5000–6500K)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0266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Subjects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30266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people, authentic moments, hands &amp; product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465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3465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thirds, generous negative space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904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3904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Ocean-aware toning — blue-green palette for coastal contexts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691640"/>
            <a:ext cx="3886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1691640"/>
            <a:ext cx="54864" cy="274320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828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Approach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Flowing, continuous line illustrations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587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Stroke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2587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2–3px, rounded caps and joins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0266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Palette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30266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Monochrome or two-tone (Navy + Ocean)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465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Subjects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3465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system, breath patterns, wave forms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904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3904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 depth motifs — wave-forms reference gradient system</a:t>
            </a:r>
            <a:endParaRPr lang="en-US" sz="10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LANGUAGE — V2.0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Glass-Morphism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sea glass, not cold chrome. Sand undertones replace Apple’s blue-white.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TO USE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/ dashboard overview screens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 background states (behind nav)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overlays and bottom sheets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briefing pattern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and first-impression screens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75C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TO AVOID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data entry or editing flows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Long-form text and educational content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or diagnostic displays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 chart areas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Mode — opaque surfaces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9144" cy="18288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777240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 SPECS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Blur: 24px saturate(1.1)  |  Tint: Warm Sand at 65% opacity  |  Border: 0.5px white at 25%  |  Radius: 20px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Fallback: Warm Sand solid at 92% — Glass is enhancement, not foundation. Never for health data.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v2.0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Principles, card system, motion, Depth Bar &amp; neuro-inclusive design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151571" y="3657600"/>
            <a:ext cx="895149" cy="109728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Principles + One Guideline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Quiet Confidence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interface should feel like a deep breath. Remove elements until removal would cause harm.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accent per screen  |  Whitespace over dividers  |  Typography carries hierarchy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Clarity Over Cleverness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807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user has to think about the interface, we have failed. Every element communicates its purpose instantly.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Buttons say what they do  |  Error messages explain AND fix  |  Platform conventions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Warmth Through Craft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813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Sand over clinical white. The considered pause of a 300ms ease-out. The 4px gradient stripe.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 Sand, never white  |  Generous radius (12–16px)  |  Water-inspired easing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526280"/>
            <a:ext cx="7772400" cy="365760"/>
          </a:xfrm>
          <a:prstGeom prst="rect">
            <a:avLst/>
          </a:prstGeom>
          <a:solidFill>
            <a:srgbClr val="1A1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544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 GUIDELINE:  </a:t>
            </a:r>
            <a:r>
              <a:rPr lang="en-US" sz="1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Depth, Not Noise — The ocean metaphor is a system, not a decoration. Every gradient is a stripe, not a wash.</a:t>
            </a:r>
            <a:endParaRPr lang="en-US" sz="10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— V2.0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Card System v2.0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named variants for 4 purposes — every card communicates its content depth.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1828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Shore Card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22860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 surface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" y="2560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workhorse. Clean white on Warm Sand. Hover adds a ripple tint.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4242816"/>
            <a:ext cx="1828800" cy="54864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97480" y="1920240"/>
            <a:ext cx="1828800" cy="237744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62072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62072" y="22860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Insights &amp;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62072" y="2560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gradient for AI insights, deep analysis, long-term trends.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97480" y="4242816"/>
            <a:ext cx="1828800" cy="54864"/>
          </a:xfrm>
          <a:prstGeom prst="rect">
            <a:avLst/>
          </a:prstGeom>
          <a:solidFill>
            <a:srgbClr val="1E33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920240"/>
            <a:ext cx="182880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73752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Glass Card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2860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 / Summary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2560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Frosted glass for glanceable content. Sea glass, not chrome.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4242816"/>
            <a:ext cx="1828800" cy="54864"/>
          </a:xfrm>
          <a:prstGeom prst="rect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0840" y="1920240"/>
            <a:ext cx="1828800" cy="2377440"/>
          </a:xfrm>
          <a:prstGeom prst="rect">
            <a:avLst/>
          </a:prstGeom>
          <a:solidFill>
            <a:srgbClr val="FAF8F5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20840" y="1920240"/>
            <a:ext cx="54864" cy="2377440"/>
          </a:xfrm>
          <a:prstGeom prst="rect">
            <a:avLst/>
          </a:prstGeom>
          <a:solidFill>
            <a:srgbClr val="C4A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03720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Sand Card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2286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A0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&amp; Warmth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Testimonials, somatic exercises, personal reflections.</a:t>
            </a:r>
            <a:endParaRPr lang="en-US" sz="9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MOTION — V2.0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Water-Inspired Interactions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interaction feels like touching water — responsive, yielding, alive.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2423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993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Ripple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2011680"/>
            <a:ext cx="822960" cy="18288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0" y="2011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Hover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Radial gradient from cursor, 12% max, 300ms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920240"/>
            <a:ext cx="2423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1993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 Dive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822960" cy="18288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Scroll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8328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Bar gradient shifts, sections warm/cool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06440" y="1920240"/>
            <a:ext cx="2423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1993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2011680"/>
            <a:ext cx="822960" cy="18288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23760" y="2011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4360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= dive, Back = surface, 250ms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2990088"/>
            <a:ext cx="2423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3081528"/>
            <a:ext cx="822960" cy="18288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03120" y="3081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Loading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2960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oscillation, ocean shimmer, 1200ms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990088"/>
            <a:ext cx="2423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Swell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081528"/>
            <a:ext cx="822960" cy="18288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081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Pull-refresh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83280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builds with pull, crests, washes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06440" y="2990088"/>
            <a:ext cx="2423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Bubble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223760" y="3081528"/>
            <a:ext cx="822960" cy="18288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23760" y="3081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43600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rises, expands to card, 400ms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solidFill>
            <a:srgbClr val="D4E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0" y="41879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motion respects prefers-reduced-motion. Every animation has a static fallback. No exceptions.</a:t>
            </a:r>
            <a:endParaRPr lang="en-US" sz="10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NEURO-INCLUSIVE DESIGN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Density Modes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interface that overstimulates neurodivergent users contradicts the brand’s reason for existing.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2423160" cy="2468880"/>
          </a:xfrm>
          <a:prstGeom prst="rect">
            <a:avLst/>
          </a:prstGeom>
          <a:solidFill>
            <a:srgbClr val="1A1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2423160" cy="4572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 MODE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2057400"/>
            <a:ext cx="685800" cy="201168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40280" y="20574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primary action per screen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3 data points visible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20px body minimum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4655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Animations disabled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813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Glass-Morphism disabled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920240"/>
            <a:ext cx="2423160" cy="2468880"/>
          </a:xfrm>
          <a:prstGeom prst="rect">
            <a:avLst/>
          </a:prstGeom>
          <a:solidFill>
            <a:srgbClr val="1A1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29000" y="1920240"/>
            <a:ext cx="2423160" cy="45720"/>
          </a:xfrm>
          <a:prstGeom prst="rect">
            <a:avLst/>
          </a:prstGeom>
          <a:solidFill>
            <a:srgbClr val="2B6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1188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actions per screen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0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6 data points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17px body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11880" y="34655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Subtle animations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3813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Respects OS Reduce Motion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920240"/>
            <a:ext cx="2423160" cy="2468880"/>
          </a:xfrm>
          <a:prstGeom prst="rect">
            <a:avLst/>
          </a:prstGeom>
          <a:solidFill>
            <a:srgbClr val="1A1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1920240"/>
            <a:ext cx="2423160" cy="45720"/>
          </a:xfrm>
          <a:prstGeom prst="rect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DETAIL MODE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26680" y="2057400"/>
            <a:ext cx="685800" cy="201168"/>
          </a:xfrm>
          <a:prstGeom prst="rect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26680" y="20574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Opt-in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5508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dashboards available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12 data points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14px body minimum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4655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animation system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3813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user features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4526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Touch targets: 48px min  |  56px primary  |  64px critical/health  |  8px spacing</a:t>
            </a:r>
            <a:endParaRPr lang="en-US" sz="9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&amp;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Voice &amp; Data Storytelling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886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54864" cy="2743200"/>
          </a:xfrm>
          <a:prstGeom prst="rect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VOICE PRINCIPLES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Kaivoo speaking — no separate name or avatar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587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reasoning, never prescribe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0266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026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choices, not 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4655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Uncertainty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34655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 what data can’t confirm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904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diagnose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904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to healthcare providers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691640"/>
            <a:ext cx="3886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1691640"/>
            <a:ext cx="54864" cy="2743200"/>
          </a:xfrm>
          <a:prstGeom prst="rect">
            <a:avLst/>
          </a:prstGeom>
          <a:solidFill>
            <a:srgbClr val="1E4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828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4D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REGULATION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1031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metric — 0–100 nervous system regulation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270° circular arc (gap = breathing room)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862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Gradient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2862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 Foam → Deep (v2.0 ocean spectrum)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3009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3009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in Inter Variable 300, 48px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739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Labels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7398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“Regulated” / “Recovering” / “Activated”</a:t>
            </a:r>
            <a:endParaRPr lang="en-US" sz="10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Foundations &amp; Tokens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 RULES (v2.0)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50/20/10/10/10 ratio (v2.0) — Foundation / Ocean / Sand / CTA / Others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CTA color (Resonance Teal) per screen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is a stripe, not a wash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mode is "The Abyss," not inverted light mode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 depth encodes information depth (shallow = recent)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8–15% opacity for background tints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SPACING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space-1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Icon-to-label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2768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space-2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2276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8px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2276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component padding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space-4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2587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16px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587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padding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space-5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898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24px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internal padding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space-6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3209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32px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209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spacing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space-8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3520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64px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section breaks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3977640"/>
            <a:ext cx="7772400" cy="457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4069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LAYOUT GRID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4297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12-column responsive  |  v2.0: Asymmetric 7/5 split for dashboards  |  Tablet: 8 cols  |  Mobile: 4 cols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targets: 48×48px minimum  |  12px spacing between adjacent targets</a:t>
            </a:r>
            <a:endParaRPr lang="en-US" sz="10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Applications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cards, stationery, email, social media &amp; presentations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151571" y="3657600"/>
            <a:ext cx="895149" cy="109728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45720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45720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45720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45720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45720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45720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45720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Card System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78308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493776" cy="36576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79576" y="1783080"/>
            <a:ext cx="493776" cy="36576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73352" y="1783080"/>
            <a:ext cx="493776" cy="36576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67128" y="1783080"/>
            <a:ext cx="493776" cy="36576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60904" y="1783080"/>
            <a:ext cx="50292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63824" y="1783080"/>
            <a:ext cx="493776" cy="36576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0" y="1783080"/>
            <a:ext cx="502920" cy="36576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</a:t>
            </a:r>
            <a:endParaRPr lang="en-US" sz="7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065" y="2628900"/>
            <a:ext cx="261085" cy="32004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302" y="2706624"/>
            <a:ext cx="469953" cy="16459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800600" y="1783080"/>
            <a:ext cx="3474720" cy="2011680"/>
          </a:xfrm>
          <a:prstGeom prst="rect">
            <a:avLst/>
          </a:prstGeom>
          <a:solidFill>
            <a:srgbClr val="1210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800600" y="3758184"/>
            <a:ext cx="493776" cy="36576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294376" y="3758184"/>
            <a:ext cx="493776" cy="36576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788152" y="3758184"/>
            <a:ext cx="493776" cy="36576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281928" y="3758184"/>
            <a:ext cx="493776" cy="36576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775704" y="3758184"/>
            <a:ext cx="50292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7278624" y="3758184"/>
            <a:ext cx="493776" cy="36576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772400" y="3758184"/>
            <a:ext cx="502920" cy="36576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892040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B6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51663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 NAKAMURA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 of Product Design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jordan@kaivoo.com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 (415) 555-0142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kaivoo.com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8580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400gsm uncoated cotton  |  Soft-touch finish  |  3mm radius corners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v2.0: Depth Bar on front (top edge) and back (bottom edge)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Competitive Differentiation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609344"/>
            <a:ext cx="91440" cy="91440"/>
          </a:xfrm>
          <a:prstGeom prst="ellipse">
            <a:avLst/>
          </a:prstGeom>
          <a:solidFill>
            <a:srgbClr val="3B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 Health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Glass, system-native, minimal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1536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Warmer glass, ocean depth, nervous-system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1938528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185416"/>
            <a:ext cx="91440" cy="91440"/>
          </a:xfrm>
          <a:prstGeom prst="ellipse">
            <a:avLst/>
          </a:prstGeom>
          <a:solidFill>
            <a:srgbClr val="7E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112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premium, ring visualizations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112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2112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 Abyss, regulation score, warm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2514600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2761488"/>
            <a:ext cx="91440" cy="91440"/>
          </a:xfrm>
          <a:prstGeom prst="ellipse">
            <a:avLst/>
          </a:prstGeom>
          <a:solidFill>
            <a:srgbClr val="C4A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2688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Data-dense dark UI, performance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688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A0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Calm data, ocean gradient, quiet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3090672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3337560"/>
            <a:ext cx="91440" cy="91440"/>
          </a:xfrm>
          <a:prstGeom prst="ellipse">
            <a:avLst/>
          </a:prstGeom>
          <a:solidFill>
            <a:srgbClr val="4A5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Headspace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3264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Illustrative, playful, custom 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2644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60720" y="3264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E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Scientific credibility, design-forward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3666744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" y="3913632"/>
            <a:ext cx="91440" cy="91440"/>
          </a:xfrm>
          <a:prstGeom prst="ellipse">
            <a:avLst/>
          </a:prstGeom>
          <a:solidFill>
            <a:srgbClr val="D4A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01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3840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 photography, ultra-minimal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3840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760720" y="3840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9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More structured, interactive, depth system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4242816"/>
            <a:ext cx="7772400" cy="4572"/>
          </a:xfrm>
          <a:prstGeom prst="rect">
            <a:avLst/>
          </a:prstGeom>
          <a:solidFill>
            <a:srgbClr val="2D2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800" y="4489704"/>
            <a:ext cx="91440" cy="91440"/>
          </a:xfrm>
          <a:prstGeom prst="ellipse">
            <a:avLst/>
          </a:prstGeom>
          <a:solidFill>
            <a:srgbClr val="C7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0120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Noom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468880" y="4416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Gamified, psychology-driven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94960" y="4416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60720" y="4416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5C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Anti-gamification, empowerment</a:t>
            </a:r>
            <a:endParaRPr lang="en-US" sz="100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0ED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Guidelines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32-page brand book, asset library &amp; governance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151571" y="3657600"/>
            <a:ext cx="895149" cy="109728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C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Every Choice Was Made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Navy over black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929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depth, not cold absolutism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 Sand over white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Therapeutic, not clinical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Ocean gradient as stripe (v2.0)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118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= deliberate. Wash = wellness-generic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 Abyss dark mode (v2.0)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712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Contemplative cinematic &gt; cold neutral grey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named card variants (v2.0)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306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depth expressed through visual depth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 Variable for product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929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font, tabular numerals, open-source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Semantic health colors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health associations &gt; brand aesthetics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 Glass over Apple Glass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118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Apple’s glass is cold. Ours is sea glass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Water-inspired motion (v2.0)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712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Ripple, Dive, Tide — ocean in interaction design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Anti-gamification stance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306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Streaks create anxiety — antithetical to wellness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216847" y="4754880"/>
            <a:ext cx="469953" cy="16459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4878A25-05BA-16A6-EDBC-061E26DD9700}"/>
              </a:ext>
            </a:extLst>
          </p:cNvPr>
          <p:cNvSpPr/>
          <p:nvPr/>
        </p:nvSpPr>
        <p:spPr>
          <a:xfrm>
            <a:off x="0" y="-4572"/>
            <a:ext cx="9144000" cy="98198"/>
          </a:xfrm>
          <a:prstGeom prst="rect">
            <a:avLst/>
          </a:prstGeom>
          <a:gradFill>
            <a:gsLst>
              <a:gs pos="0">
                <a:srgbClr val="D4EDE4"/>
              </a:gs>
              <a:gs pos="17000">
                <a:srgbClr val="7FC8C8"/>
              </a:gs>
              <a:gs pos="50500">
                <a:srgbClr val="2A6E8A"/>
              </a:gs>
              <a:gs pos="35000">
                <a:srgbClr val="3B8C8C"/>
              </a:gs>
              <a:gs pos="83000">
                <a:srgbClr val="1E3364"/>
              </a:gs>
              <a:gs pos="66000">
                <a:srgbClr val="1E4C7A"/>
              </a:gs>
              <a:gs pos="100000">
                <a:srgbClr val="2A1B4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7592" cy="54864"/>
          </a:xfrm>
          <a:prstGeom prst="rect">
            <a:avLst/>
          </a:prstGeom>
          <a:solidFill>
            <a:srgbClr val="D4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07592" y="0"/>
            <a:ext cx="1307592" cy="54864"/>
          </a:xfrm>
          <a:prstGeom prst="rect">
            <a:avLst/>
          </a:prstGeom>
          <a:solidFill>
            <a:srgbClr val="7EC8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5184" y="0"/>
            <a:ext cx="1307592" cy="54864"/>
          </a:xfrm>
          <a:prstGeom prst="rect">
            <a:avLst/>
          </a:prstGeom>
          <a:solidFill>
            <a:srgbClr val="3B8C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22776" y="0"/>
            <a:ext cx="1298448" cy="54864"/>
          </a:xfrm>
          <a:prstGeom prst="rect">
            <a:avLst/>
          </a:prstGeom>
          <a:solidFill>
            <a:srgbClr val="2B6E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1224" y="0"/>
            <a:ext cx="1307592" cy="54864"/>
          </a:xfrm>
          <a:prstGeom prst="rect">
            <a:avLst/>
          </a:prstGeom>
          <a:solidFill>
            <a:srgbClr val="1E4D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28816" y="0"/>
            <a:ext cx="1307592" cy="54864"/>
          </a:xfrm>
          <a:prstGeom prst="rect">
            <a:avLst/>
          </a:prstGeom>
          <a:solidFill>
            <a:srgbClr val="1E33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36408" y="0"/>
            <a:ext cx="1307592" cy="54864"/>
          </a:xfrm>
          <a:prstGeom prst="rect">
            <a:avLst/>
          </a:prstGeom>
          <a:solidFill>
            <a:srgbClr val="2A1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900638" y="548640"/>
            <a:ext cx="1342724" cy="164592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829" y="2331720"/>
            <a:ext cx="1044341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7E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Depth, not noise.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27432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D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kaivoo.com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A18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371600" y="48188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Prepared by Pentagram  |  Version 2.0 (Ocean Gradient Evolution)  |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2539</Words>
  <Application>Microsoft Macintosh PowerPoint</Application>
  <PresentationFormat>On-screen Show (16:9)</PresentationFormat>
  <Paragraphs>570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Georgia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Kaivoo — Complete Brand Identity System v2.0</dc:title>
  <dc:subject>Brand Guidelines</dc:subject>
  <dc:creator>Pentagram</dc:creator>
  <cp:lastModifiedBy>Ricky Chavez</cp:lastModifiedBy>
  <cp:revision>2</cp:revision>
  <dcterms:created xsi:type="dcterms:W3CDTF">2026-02-21T20:03:42Z</dcterms:created>
  <dcterms:modified xsi:type="dcterms:W3CDTF">2026-02-21T21:43:37Z</dcterms:modified>
</cp:coreProperties>
</file>